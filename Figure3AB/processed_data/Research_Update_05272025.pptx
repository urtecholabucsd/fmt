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36"/>
    <p:restoredTop sz="96048"/>
  </p:normalViewPr>
  <p:slideViewPr>
    <p:cSldViewPr snapToGrid="0">
      <p:cViewPr>
        <p:scale>
          <a:sx n="150" d="100"/>
          <a:sy n="150" d="100"/>
        </p:scale>
        <p:origin x="106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E4FA47-E09F-9C4E-B929-3492500DC8F2}" type="datetimeFigureOut">
              <a:rPr lang="en-US" smtClean="0"/>
              <a:t>5/27/25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EF71D0-71D1-F543-AC5C-D97CB046D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014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samples do not have valeric acid and propionate production, these samples were added back with 0 production rate (left)</a:t>
            </a:r>
          </a:p>
          <a:p>
            <a:r>
              <a:rPr lang="en-US" dirty="0"/>
              <a:t>Propionate production is significant before comparison correct</a:t>
            </a:r>
          </a:p>
          <a:p>
            <a:pPr algn="l">
              <a:spcAft>
                <a:spcPts val="750"/>
              </a:spcAft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inherit"/>
              </a:rPr>
              <a:t>Ju, X., Jiang, Z., Ma, J., &amp; Yang, D. (2024). Changes in Fecal Short-Chain Fatty Acids in IBS Patients and Effects of Different Interventions: A Systematic Review and Meta-Analysis. </a:t>
            </a:r>
            <a:r>
              <a:rPr lang="en-US" b="0" i="1" dirty="0">
                <a:solidFill>
                  <a:srgbClr val="222222"/>
                </a:solidFill>
                <a:effectLst/>
                <a:latin typeface="inherit"/>
              </a:rPr>
              <a:t>Nutrients</a:t>
            </a:r>
            <a:r>
              <a:rPr lang="en-US" b="0" i="0" dirty="0">
                <a:solidFill>
                  <a:srgbClr val="222222"/>
                </a:solidFill>
                <a:effectLst/>
                <a:latin typeface="inherit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inherit"/>
              </a:rPr>
              <a:t>16</a:t>
            </a:r>
            <a:r>
              <a:rPr lang="en-US" b="0" i="0" dirty="0">
                <a:solidFill>
                  <a:srgbClr val="222222"/>
                </a:solidFill>
                <a:effectLst/>
                <a:latin typeface="inherit"/>
              </a:rPr>
              <a:t>(11), 1727. https://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inherit"/>
              </a:rPr>
              <a:t>doi.org</a:t>
            </a:r>
            <a:r>
              <a:rPr lang="en-US" b="0" i="0" dirty="0">
                <a:solidFill>
                  <a:srgbClr val="222222"/>
                </a:solidFill>
                <a:effectLst/>
                <a:latin typeface="inherit"/>
              </a:rPr>
              <a:t>/10.3390/nu16111727</a:t>
            </a:r>
          </a:p>
          <a:p>
            <a:pPr algn="l">
              <a:spcAft>
                <a:spcPts val="750"/>
              </a:spcAft>
              <a:buNone/>
            </a:pPr>
            <a:r>
              <a:rPr lang="en-US" b="0" i="0" dirty="0">
                <a:solidFill>
                  <a:srgbClr val="1B1B1B"/>
                </a:solidFill>
                <a:effectLst/>
                <a:latin typeface="Roboto Mono Web"/>
              </a:rPr>
              <a:t>Jiang, W., Wu, J., Zhu, S., Xin, L., Yu, C., &amp; Shen, Z. (2022). The Role of Short Chain Fatty Acids in Irritable Bowel Syndrome. </a:t>
            </a:r>
            <a:r>
              <a:rPr lang="en-US" b="0" i="1" dirty="0">
                <a:solidFill>
                  <a:srgbClr val="1B1B1B"/>
                </a:solidFill>
                <a:effectLst/>
                <a:latin typeface="Roboto Mono Web"/>
              </a:rPr>
              <a:t>Journal of </a:t>
            </a:r>
            <a:r>
              <a:rPr lang="en-US" b="0" i="1" dirty="0" err="1">
                <a:solidFill>
                  <a:srgbClr val="1B1B1B"/>
                </a:solidFill>
                <a:effectLst/>
                <a:latin typeface="Roboto Mono Web"/>
              </a:rPr>
              <a:t>neurogastroenterology</a:t>
            </a:r>
            <a:r>
              <a:rPr lang="en-US" b="0" i="1" dirty="0">
                <a:solidFill>
                  <a:srgbClr val="1B1B1B"/>
                </a:solidFill>
                <a:effectLst/>
                <a:latin typeface="Roboto Mono Web"/>
              </a:rPr>
              <a:t> and motility</a:t>
            </a:r>
            <a:r>
              <a:rPr lang="en-US" b="0" i="0" dirty="0">
                <a:solidFill>
                  <a:srgbClr val="1B1B1B"/>
                </a:solidFill>
                <a:effectLst/>
                <a:latin typeface="Roboto Mono Web"/>
              </a:rPr>
              <a:t>, </a:t>
            </a:r>
            <a:r>
              <a:rPr lang="en-US" b="0" i="1" dirty="0">
                <a:solidFill>
                  <a:srgbClr val="1B1B1B"/>
                </a:solidFill>
                <a:effectLst/>
                <a:latin typeface="Roboto Mono Web"/>
              </a:rPr>
              <a:t>28</a:t>
            </a:r>
            <a:r>
              <a:rPr lang="en-US" b="0" i="0" dirty="0">
                <a:solidFill>
                  <a:srgbClr val="1B1B1B"/>
                </a:solidFill>
                <a:effectLst/>
                <a:latin typeface="Roboto Mono Web"/>
              </a:rPr>
              <a:t>(4), 540–548. https://</a:t>
            </a:r>
            <a:r>
              <a:rPr lang="en-US" b="0" i="0" dirty="0" err="1">
                <a:solidFill>
                  <a:srgbClr val="1B1B1B"/>
                </a:solidFill>
                <a:effectLst/>
                <a:latin typeface="Roboto Mono Web"/>
              </a:rPr>
              <a:t>doi.org</a:t>
            </a:r>
            <a:r>
              <a:rPr lang="en-US" b="0" i="0" dirty="0">
                <a:solidFill>
                  <a:srgbClr val="1B1B1B"/>
                </a:solidFill>
                <a:effectLst/>
                <a:latin typeface="Roboto Mono Web"/>
              </a:rPr>
              <a:t>/10.5056/jnm22093</a:t>
            </a:r>
          </a:p>
          <a:p>
            <a:pPr algn="l">
              <a:spcAft>
                <a:spcPts val="750"/>
              </a:spcAft>
              <a:buNone/>
            </a:pPr>
            <a:r>
              <a:rPr lang="en-US" b="0" i="0" dirty="0">
                <a:solidFill>
                  <a:srgbClr val="1B1B1B"/>
                </a:solidFill>
                <a:effectLst/>
                <a:latin typeface="Roboto Mono Web"/>
              </a:rPr>
              <a:t>Sun, Q., Jia, Q., Song, L., &amp; Duan, L. (2019). Alterations in fecal short-chain fatty acids in patients with irritable bowel syndrome: A systematic review and meta-analysis. </a:t>
            </a:r>
            <a:r>
              <a:rPr lang="en-US" b="0" i="1" dirty="0">
                <a:solidFill>
                  <a:srgbClr val="1B1B1B"/>
                </a:solidFill>
                <a:effectLst/>
                <a:latin typeface="Roboto Mono Web"/>
              </a:rPr>
              <a:t>Medicine</a:t>
            </a:r>
            <a:r>
              <a:rPr lang="en-US" b="0" i="0" dirty="0">
                <a:solidFill>
                  <a:srgbClr val="1B1B1B"/>
                </a:solidFill>
                <a:effectLst/>
                <a:latin typeface="Roboto Mono Web"/>
              </a:rPr>
              <a:t>, </a:t>
            </a:r>
            <a:r>
              <a:rPr lang="en-US" b="0" i="1" dirty="0">
                <a:solidFill>
                  <a:srgbClr val="1B1B1B"/>
                </a:solidFill>
                <a:effectLst/>
                <a:latin typeface="Roboto Mono Web"/>
              </a:rPr>
              <a:t>98</a:t>
            </a:r>
            <a:r>
              <a:rPr lang="en-US" b="0" i="0" dirty="0">
                <a:solidFill>
                  <a:srgbClr val="1B1B1B"/>
                </a:solidFill>
                <a:effectLst/>
                <a:latin typeface="Roboto Mono Web"/>
              </a:rPr>
              <a:t>(7), e14513. https://</a:t>
            </a:r>
            <a:r>
              <a:rPr lang="en-US" b="0" i="0" dirty="0" err="1">
                <a:solidFill>
                  <a:srgbClr val="1B1B1B"/>
                </a:solidFill>
                <a:effectLst/>
                <a:latin typeface="Roboto Mono Web"/>
              </a:rPr>
              <a:t>doi.org</a:t>
            </a:r>
            <a:r>
              <a:rPr lang="en-US" b="0" i="0" dirty="0">
                <a:solidFill>
                  <a:srgbClr val="1B1B1B"/>
                </a:solidFill>
                <a:effectLst/>
                <a:latin typeface="Roboto Mono Web"/>
              </a:rPr>
              <a:t>/10.1097/MD.0000000000014513</a:t>
            </a:r>
            <a:endParaRPr lang="en-US" b="0" i="0" dirty="0">
              <a:solidFill>
                <a:srgbClr val="222222"/>
              </a:solidFill>
              <a:effectLst/>
              <a:latin typeface="inher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EF71D0-71D1-F543-AC5C-D97CB046DAA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822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F5A69-1A3C-B969-6299-6D0987A6A7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23FF50-FECA-6686-F21E-DF9C32D57C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2CFF8-A2F6-E0DD-EF1C-4DC2C41AC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50080-8BE7-CA4D-AD2A-345CB92981F3}" type="datetimeFigureOut">
              <a:rPr lang="en-US" smtClean="0"/>
              <a:t>5/27/25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F33F1-7F49-9B99-DCD0-EF2828D0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C88B3-1927-2E4F-188A-B3960E6A2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23A3F-F799-CD4C-9405-FD062E422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027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F9DEF-CC32-77B5-5060-8AD675B3F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9A560-C28D-FEA4-BC43-44A8DF97B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977CE-F496-0629-E6B8-37CB69E11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50080-8BE7-CA4D-AD2A-345CB92981F3}" type="datetimeFigureOut">
              <a:rPr lang="en-US" smtClean="0"/>
              <a:t>5/27/25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589E7-4359-A8BB-39E6-0ACB89DDA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28B39-B6E2-B2AE-E2BD-591541FAB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23A3F-F799-CD4C-9405-FD062E422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441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8B206-B754-6130-8130-B13D18AD8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0BD090-0DD2-D485-F7B3-EBA380CC35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52192-61F2-1884-A7B5-B3BDE67EE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50080-8BE7-CA4D-AD2A-345CB92981F3}" type="datetimeFigureOut">
              <a:rPr lang="en-US" smtClean="0"/>
              <a:t>5/27/25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0D54B-C3ED-2688-DAB3-9B67B7115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3CA23-68C6-C4B0-8C6C-E4E34610B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23A3F-F799-CD4C-9405-FD062E422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65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4DB71-3705-B102-3B81-4B715F907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6697D-5651-ABA6-30F6-7479158C48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FA2500-FC11-6344-F7F2-E46A84E37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27B1C2-4B71-70A6-D6EE-B0BF91321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50080-8BE7-CA4D-AD2A-345CB92981F3}" type="datetimeFigureOut">
              <a:rPr lang="en-US" smtClean="0"/>
              <a:t>5/27/25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7D2600-69D0-7E71-3AD6-1C33F1BC6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B214AD-B856-3AF6-C1EF-72E245ABA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23A3F-F799-CD4C-9405-FD062E422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979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EE19E-7E0A-118F-E749-CDED46EBC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EB7B55-D5D8-EB89-B6B7-545B5C99D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5D1F61-8984-DFB7-E050-C0D61CA22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CE9F8F-DB0F-E6EF-D952-11EBE5C7A3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79181A-E3A5-2ABC-4E23-044097C6E6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DC6D91-6D5A-E489-CC37-39ACA937E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50080-8BE7-CA4D-AD2A-345CB92981F3}" type="datetimeFigureOut">
              <a:rPr lang="en-US" smtClean="0"/>
              <a:t>5/27/25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11D828-0D98-76DE-2165-E4D5179E9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DB6F2D-F0A9-D4EA-33EE-14D7D7072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23A3F-F799-CD4C-9405-FD062E422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038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D04A2-6FE9-D1D4-991A-219DA844B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487782-76B7-B57A-DB97-2CDE43261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50080-8BE7-CA4D-AD2A-345CB92981F3}" type="datetimeFigureOut">
              <a:rPr lang="en-US" smtClean="0"/>
              <a:t>5/27/25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01336-3475-C339-BE80-4E1E545C5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08ADAF-6133-9183-97FB-A90E7FEA8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23A3F-F799-CD4C-9405-FD062E422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957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256B9D-58E3-A858-A54A-D31322D65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50080-8BE7-CA4D-AD2A-345CB92981F3}" type="datetimeFigureOut">
              <a:rPr lang="en-US" smtClean="0"/>
              <a:t>5/27/25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27B101-2CB9-0DE1-580C-734A3CBDB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3D74ED-9C01-1F9C-178E-0DFC59E0C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23A3F-F799-CD4C-9405-FD062E422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464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4EAD8-C464-1748-5683-CC11F104C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94184-A5D5-1821-1B58-41A179549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1EFD13-2237-08D0-1EE3-D1640E337D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6AB45-FC2B-AFC3-21F0-FC8CF4AFF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50080-8BE7-CA4D-AD2A-345CB92981F3}" type="datetimeFigureOut">
              <a:rPr lang="en-US" smtClean="0"/>
              <a:t>5/27/25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FA1788-AEAA-4579-1669-4C371FF59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41F891-465D-F065-3AE3-6FFDEE9E8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23A3F-F799-CD4C-9405-FD062E422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973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46140-235D-46DF-367D-3CDD08F85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AA568B-5B54-0F70-ED01-68E3CA088F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2AE36-FDF4-6D6B-5745-DC810457CA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72728D-A405-6162-216E-075BEE5A2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50080-8BE7-CA4D-AD2A-345CB92981F3}" type="datetimeFigureOut">
              <a:rPr lang="en-US" smtClean="0"/>
              <a:t>5/27/25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86A62F-35A9-8347-F2ED-ADB6378BD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E6A2A-8EE8-BCA3-04C6-3776B4939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23A3F-F799-CD4C-9405-FD062E422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545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E3897-A07C-88C6-6513-CC5CB3ABA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98EB1B-71DB-2249-24DA-C46CFA7620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1BDFC-536B-FC9B-4560-D5FA29CAA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50080-8BE7-CA4D-AD2A-345CB92981F3}" type="datetimeFigureOut">
              <a:rPr lang="en-US" smtClean="0"/>
              <a:t>5/27/25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A7CB6-4114-9BA2-6630-63425DDA9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BF3D0D-249B-DCAD-C30A-BF9ADBFA1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23A3F-F799-CD4C-9405-FD062E422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576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18EB32-E927-774A-7E92-0A2F0EC1E6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CE0B64-2F9A-BB03-9312-077F18D946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C09EA-5FC0-290C-66DA-D82484D68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50080-8BE7-CA4D-AD2A-345CB92981F3}" type="datetimeFigureOut">
              <a:rPr lang="en-US" smtClean="0"/>
              <a:t>5/27/25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7DE27-4DFD-C015-2856-10F7A8213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782D3-6BC0-A7DB-5502-9CE02171F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23A3F-F799-CD4C-9405-FD062E422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971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8AD22A-AA59-0C60-CE7B-B82F12F6D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F2074-6CA9-750B-D9C1-BF89B972B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A5DF4-AAD8-7177-0849-B6A41C9EFE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B50080-8BE7-CA4D-AD2A-345CB92981F3}" type="datetimeFigureOut">
              <a:rPr lang="en-US" smtClean="0"/>
              <a:t>5/27/25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37AAA-53F4-6C37-93F0-91F1948155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509CD-05AE-04E1-8E48-057D86928F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723A3F-F799-CD4C-9405-FD062E422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015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2555E-C2B5-1ACD-B55D-F9A0FC4E0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Metabolic Modeling of SCFA Production is Similar to Experimental Results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DCC084-A0EE-B521-96BE-28FEC702D45D}"/>
              </a:ext>
            </a:extLst>
          </p:cNvPr>
          <p:cNvSpPr txBox="1"/>
          <p:nvPr/>
        </p:nvSpPr>
        <p:spPr>
          <a:xfrm>
            <a:off x="838200" y="5560836"/>
            <a:ext cx="1082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 study has shown that propionate and butyrate levels are elevated in IBS patients, while acetate level was substantially lower in IBS patients. (Ju et al., 2024). </a:t>
            </a:r>
          </a:p>
          <a:p>
            <a:pPr algn="ctr"/>
            <a:r>
              <a:rPr lang="en-US" dirty="0"/>
              <a:t>Another study shows that acetate and propionate level was higher in IBS-D patients and higher overall SCFA production in IBS patients than control. (Jiang et al., 2022, Sun et al., 2022).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BD971F-11CD-DAE9-E3AF-C10CD42EF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3266" y="1550968"/>
            <a:ext cx="6728423" cy="40098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615E7B9-A934-480A-9E28-E0D75C9DAB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99" y="2171420"/>
            <a:ext cx="5215467" cy="2768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385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colorful tower with black background&#10;&#10;AI-generated content may be incorrect.">
            <a:extLst>
              <a:ext uri="{FF2B5EF4-FFF2-40B4-BE49-F238E27FC236}">
                <a16:creationId xmlns:a16="http://schemas.microsoft.com/office/drawing/2014/main" id="{98DC2160-F3E8-FD03-F799-FB0E21CBF8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537" y="123289"/>
            <a:ext cx="5046133" cy="5046133"/>
          </a:xfrm>
        </p:spPr>
      </p:pic>
      <p:pic>
        <p:nvPicPr>
          <p:cNvPr id="8" name="Picture 7" descr="A screen shot of a game&#10;&#10;AI-generated content may be incorrect.">
            <a:extLst>
              <a:ext uri="{FF2B5EF4-FFF2-40B4-BE49-F238E27FC236}">
                <a16:creationId xmlns:a16="http://schemas.microsoft.com/office/drawing/2014/main" id="{649E2DE1-BE59-B866-8A23-CF433CF89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071" y="123289"/>
            <a:ext cx="6311566" cy="3786940"/>
          </a:xfrm>
          <a:prstGeom prst="rect">
            <a:avLst/>
          </a:prstGeom>
        </p:spPr>
      </p:pic>
      <p:pic>
        <p:nvPicPr>
          <p:cNvPr id="10" name="Picture 9" descr="A colorful pie chart with a black background&#10;&#10;AI-generated content may be incorrect.">
            <a:extLst>
              <a:ext uri="{FF2B5EF4-FFF2-40B4-BE49-F238E27FC236}">
                <a16:creationId xmlns:a16="http://schemas.microsoft.com/office/drawing/2014/main" id="{F871E691-1DC7-DAAE-758F-8AE2D66AA0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9312" y="3057236"/>
            <a:ext cx="3939297" cy="4927601"/>
          </a:xfrm>
          <a:prstGeom prst="rect">
            <a:avLst/>
          </a:prstGeom>
        </p:spPr>
      </p:pic>
      <p:pic>
        <p:nvPicPr>
          <p:cNvPr id="12" name="Picture 11" descr="A rainbow colored pie chart&#10;&#10;AI-generated content may be incorrect.">
            <a:extLst>
              <a:ext uri="{FF2B5EF4-FFF2-40B4-BE49-F238E27FC236}">
                <a16:creationId xmlns:a16="http://schemas.microsoft.com/office/drawing/2014/main" id="{799656B8-50DD-DDEA-2F3C-6DD06AEA6D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8609" y="3057236"/>
            <a:ext cx="3939297" cy="492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317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9A275-5C7C-3B90-B724-7ECF9139A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True Bray Curtis Distance Is Significantly Different From the Permuted Ones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6C1CEB-33DE-C392-6D04-9DC724557AC9}"/>
              </a:ext>
            </a:extLst>
          </p:cNvPr>
          <p:cNvSpPr txBox="1"/>
          <p:nvPr/>
        </p:nvSpPr>
        <p:spPr>
          <a:xfrm>
            <a:off x="3410" y="4228614"/>
            <a:ext cx="621112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Permutation with PERMANOVA strategy:</a:t>
            </a:r>
          </a:p>
          <a:p>
            <a:r>
              <a:rPr lang="en-US" dirty="0"/>
              <a:t>for each iteration (1- 999):</a:t>
            </a:r>
          </a:p>
          <a:p>
            <a:r>
              <a:rPr lang="en-US" dirty="0"/>
              <a:t>	for each differentially abundant taxa:</a:t>
            </a:r>
          </a:p>
          <a:p>
            <a:r>
              <a:rPr lang="en-US" dirty="0"/>
              <a:t>		</a:t>
            </a:r>
            <a:r>
              <a:rPr lang="en-US" dirty="0" err="1"/>
              <a:t>df</a:t>
            </a:r>
            <a:r>
              <a:rPr lang="en-US" dirty="0"/>
              <a:t>[taxa, donor] = random(</a:t>
            </a:r>
            <a:r>
              <a:rPr lang="en-US" dirty="0" err="1"/>
              <a:t>df</a:t>
            </a:r>
            <a:r>
              <a:rPr lang="en-US" dirty="0"/>
              <a:t>[taxa, recipient])</a:t>
            </a:r>
          </a:p>
          <a:p>
            <a:r>
              <a:rPr lang="en-US" dirty="0"/>
              <a:t>	store(</a:t>
            </a:r>
            <a:r>
              <a:rPr lang="en-US" dirty="0" err="1"/>
              <a:t>permanova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, [donor, recipient]))</a:t>
            </a:r>
          </a:p>
          <a:p>
            <a:endParaRPr lang="en-US" dirty="0"/>
          </a:p>
          <a:p>
            <a:r>
              <a:rPr lang="en-US" dirty="0"/>
              <a:t>True F-statistic: </a:t>
            </a:r>
            <a:r>
              <a:rPr lang="en-US" dirty="0" err="1"/>
              <a:t>permanova</a:t>
            </a:r>
            <a:r>
              <a:rPr lang="en-US" dirty="0"/>
              <a:t>(</a:t>
            </a:r>
            <a:r>
              <a:rPr lang="en-US" dirty="0" err="1"/>
              <a:t>orig_df</a:t>
            </a:r>
            <a:r>
              <a:rPr lang="en-US" dirty="0"/>
              <a:t>, [donor, recipient])</a:t>
            </a:r>
          </a:p>
          <a:p>
            <a:r>
              <a:rPr lang="en-US" dirty="0"/>
              <a:t>p = (num permuted F-statistics &gt; true F-statistic) / 1000</a:t>
            </a:r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FF7FB1-541C-6F07-68D0-7C039BB4A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990" y="4342385"/>
            <a:ext cx="2919525" cy="23397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DE7B619-9FE4-8549-39C9-CFF9C2393D88}"/>
              </a:ext>
            </a:extLst>
          </p:cNvPr>
          <p:cNvSpPr txBox="1"/>
          <p:nvPr/>
        </p:nvSpPr>
        <p:spPr>
          <a:xfrm>
            <a:off x="9557953" y="2629386"/>
            <a:ext cx="24548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Both UMAP clustering of export metabolic flux and beta diversity shows tight cluster of donor before perturbation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A808B68-508E-0B18-207B-D606AD31811B}"/>
              </a:ext>
            </a:extLst>
          </p:cNvPr>
          <p:cNvCxnSpPr>
            <a:cxnSpLocks/>
          </p:cNvCxnSpPr>
          <p:nvPr/>
        </p:nvCxnSpPr>
        <p:spPr>
          <a:xfrm flipH="1">
            <a:off x="9291421" y="2166552"/>
            <a:ext cx="650789" cy="148281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4106549-9318-2C48-74DD-DFE829D3FA59}"/>
              </a:ext>
            </a:extLst>
          </p:cNvPr>
          <p:cNvSpPr txBox="1"/>
          <p:nvPr/>
        </p:nvSpPr>
        <p:spPr>
          <a:xfrm>
            <a:off x="10050161" y="1952368"/>
            <a:ext cx="1962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True F-statistic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5E189B-3321-53E1-5ED4-363BEFDA4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71" y="1686941"/>
            <a:ext cx="5517819" cy="22758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107607-0AD4-3501-055D-301837900D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4533" y="1632835"/>
            <a:ext cx="2968937" cy="23878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077969-1A33-0D7F-180A-B4683B8C72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6515" y="4342385"/>
            <a:ext cx="3116230" cy="2339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912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889</TotalTime>
  <Words>385</Words>
  <Application>Microsoft Macintosh PowerPoint</Application>
  <PresentationFormat>Widescreen</PresentationFormat>
  <Paragraphs>20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inherit</vt:lpstr>
      <vt:lpstr>Roboto Mono Web</vt:lpstr>
      <vt:lpstr>Aptos</vt:lpstr>
      <vt:lpstr>Aptos Display</vt:lpstr>
      <vt:lpstr>Arial</vt:lpstr>
      <vt:lpstr>Office Theme</vt:lpstr>
      <vt:lpstr>Metabolic Modeling of SCFA Production is Similar to Experimental Results</vt:lpstr>
      <vt:lpstr>PowerPoint Presentation</vt:lpstr>
      <vt:lpstr>True Bray Curtis Distance Is Significantly Different From the Permuted 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Zhang, Zetian (David)</dc:creator>
  <cp:lastModifiedBy>Zhang, Zetian (David)</cp:lastModifiedBy>
  <cp:revision>2</cp:revision>
  <dcterms:created xsi:type="dcterms:W3CDTF">2025-05-23T14:34:16Z</dcterms:created>
  <dcterms:modified xsi:type="dcterms:W3CDTF">2025-05-28T02:43:13Z</dcterms:modified>
</cp:coreProperties>
</file>